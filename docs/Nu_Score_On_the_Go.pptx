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AUC</c:v>
                </c:pt>
              </c:strCache>
            </c:strRef>
          </c:tx>
          <c:spPr>
            <a:solidFill>
              <a:srgbClr val="4FC6E0"/>
            </a:solidFill>
          </c:spPr>
          <c:cat>
            <c:strRef>
              <c:f>Sheet1!$A$2:$A$11</c:f>
              <c:strCache>
                <c:ptCount val="10"/>
                <c:pt idx="0">
                  <c:v>LogisticRegression</c:v>
                </c:pt>
                <c:pt idx="1">
                  <c:v>NuScore Blend</c:v>
                </c:pt>
                <c:pt idx="2">
                  <c:v>MLP</c:v>
                </c:pt>
                <c:pt idx="3">
                  <c:v>LightGBM</c:v>
                </c:pt>
                <c:pt idx="4">
                  <c:v>CatBoost</c:v>
                </c:pt>
                <c:pt idx="5">
                  <c:v>XGBoost</c:v>
                </c:pt>
                <c:pt idx="6">
                  <c:v>RandomForest</c:v>
                </c:pt>
                <c:pt idx="7">
                  <c:v>FTTransformer</c:v>
                </c:pt>
                <c:pt idx="8">
                  <c:v>HistGradientBoosting</c:v>
                </c:pt>
                <c:pt idx="9">
                  <c:v>ExtraTrees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0.764</c:v>
                </c:pt>
                <c:pt idx="1">
                  <c:v>0.765</c:v>
                </c:pt>
                <c:pt idx="2">
                  <c:v>0.754</c:v>
                </c:pt>
                <c:pt idx="3">
                  <c:v>0.746</c:v>
                </c:pt>
                <c:pt idx="4">
                  <c:v>0.744</c:v>
                </c:pt>
                <c:pt idx="5">
                  <c:v>0.741</c:v>
                </c:pt>
                <c:pt idx="6">
                  <c:v>0.74</c:v>
                </c:pt>
                <c:pt idx="7">
                  <c:v>0.737</c:v>
                </c:pt>
                <c:pt idx="8">
                  <c:v>0.726</c:v>
                </c:pt>
                <c:pt idx="9">
                  <c:v>0.724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0D1C31"/>
            </a:solidFill>
          </c:spPr>
          <c:cat>
            <c:strRef>
              <c:f>Sheet1!$A$2:$A$11</c:f>
              <c:strCache>
                <c:ptCount val="10"/>
                <c:pt idx="0">
                  <c:v>LogisticRegression</c:v>
                </c:pt>
                <c:pt idx="1">
                  <c:v>NuScore Blend</c:v>
                </c:pt>
                <c:pt idx="2">
                  <c:v>MLP</c:v>
                </c:pt>
                <c:pt idx="3">
                  <c:v>LightGBM</c:v>
                </c:pt>
                <c:pt idx="4">
                  <c:v>CatBoost</c:v>
                </c:pt>
                <c:pt idx="5">
                  <c:v>XGBoost</c:v>
                </c:pt>
                <c:pt idx="6">
                  <c:v>RandomForest</c:v>
                </c:pt>
                <c:pt idx="7">
                  <c:v>FTTransformer</c:v>
                </c:pt>
                <c:pt idx="8">
                  <c:v>HistGradientBoosting</c:v>
                </c:pt>
                <c:pt idx="9">
                  <c:v>ExtraTrees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0.732</c:v>
                </c:pt>
                <c:pt idx="1">
                  <c:v>0.734</c:v>
                </c:pt>
                <c:pt idx="2">
                  <c:v>0.733</c:v>
                </c:pt>
                <c:pt idx="3">
                  <c:v>0.729</c:v>
                </c:pt>
                <c:pt idx="4">
                  <c:v>0.721</c:v>
                </c:pt>
                <c:pt idx="5">
                  <c:v>0.736</c:v>
                </c:pt>
                <c:pt idx="6">
                  <c:v>0.724</c:v>
                </c:pt>
                <c:pt idx="7">
                  <c:v>0.718</c:v>
                </c:pt>
                <c:pt idx="8">
                  <c:v>0.708</c:v>
                </c:pt>
                <c:pt idx="9">
                  <c:v>0.74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OOT AUC</c:v>
                </c:pt>
              </c:strCache>
            </c:strRef>
          </c:tx>
          <c:spPr>
            <a:solidFill>
              <a:srgbClr val="8FA3BF"/>
            </a:solidFill>
          </c:spPr>
          <c:cat>
            <c:strRef>
              <c:f>Sheet1!$A$2:$A$11</c:f>
              <c:strCache>
                <c:ptCount val="10"/>
                <c:pt idx="0">
                  <c:v>LogisticRegression</c:v>
                </c:pt>
                <c:pt idx="1">
                  <c:v>NuScore Blend</c:v>
                </c:pt>
                <c:pt idx="2">
                  <c:v>MLP</c:v>
                </c:pt>
                <c:pt idx="3">
                  <c:v>LightGBM</c:v>
                </c:pt>
                <c:pt idx="4">
                  <c:v>CatBoost</c:v>
                </c:pt>
                <c:pt idx="5">
                  <c:v>XGBoost</c:v>
                </c:pt>
                <c:pt idx="6">
                  <c:v>RandomForest</c:v>
                </c:pt>
                <c:pt idx="7">
                  <c:v>FTTransformer</c:v>
                </c:pt>
                <c:pt idx="8">
                  <c:v>HistGradientBoosting</c:v>
                </c:pt>
                <c:pt idx="9">
                  <c:v>ExtraTrees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0.727</c:v>
                </c:pt>
                <c:pt idx="1">
                  <c:v>0.727</c:v>
                </c:pt>
                <c:pt idx="2">
                  <c:v>0.71</c:v>
                </c:pt>
                <c:pt idx="3">
                  <c:v>0.719</c:v>
                </c:pt>
                <c:pt idx="4">
                  <c:v>0.709</c:v>
                </c:pt>
                <c:pt idx="5">
                  <c:v>0.719</c:v>
                </c:pt>
                <c:pt idx="6">
                  <c:v>0.712</c:v>
                </c:pt>
                <c:pt idx="7">
                  <c:v>0.699</c:v>
                </c:pt>
                <c:pt idx="8">
                  <c:v>0.694</c:v>
                </c:pt>
                <c:pt idx="9">
                  <c:v>0.696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b"/>
        <c:majorGridlines>
          <c:spPr>
            <a:ln>
              <a:solidFill>
                <a:srgbClr val="E3E8E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59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999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38359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07039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75719" y="182880"/>
            <a:ext cx="12000" cy="512064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orthern-ar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74212" cy="502920"/>
          </a:xfrm>
          <a:prstGeom prst="rect">
            <a:avLst/>
          </a:prstGeom>
        </p:spPr>
      </p:pic>
      <p:pic>
        <p:nvPicPr>
          <p:cNvPr id="22" name="Picture 21" descr="altifi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521208"/>
            <a:ext cx="703891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FC6E0"/>
                </a:solidFill>
                <a:latin typeface="Calibri"/>
              </a:rPr>
              <a:t>NU SCORE ON THE 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40280"/>
            <a:ext cx="100584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Build ML models with your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42900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E0"/>
                </a:solidFill>
                <a:latin typeface="Calibri"/>
              </a:rPr>
              <a:t>From loan book, bureau and bank-statement files to a validated, explainable Nu Score — and live scoring of new applications — in minutes, on Northern Arc's own servers.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FC6E0"/>
                </a:solidFill>
                <a:latin typeface="Calibri"/>
              </a:rPr>
              <a:t>Product overview  ·  15 September 2026  · 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8255" y="5669280"/>
            <a:ext cx="41148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http://10.91.16.86/nuscore_claudecode/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Nu Score On the Go turns the data a lender already has into a governed credit score in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57621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5720" cy="3346704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3301898" cy="3063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256178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Building a credit model takes a data-science team weeks: joining sources, cleaning formats, choosing algorithms, validating honestly, packaging for underwriters.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Most lending teams never get beyond a spreadsheet — decisions stay judgemental and inconsistent.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1600200"/>
            <a:ext cx="357621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7738" y="1709928"/>
            <a:ext cx="45720" cy="334670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What we built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330" y="2039112"/>
            <a:ext cx="3301898" cy="3063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057400"/>
            <a:ext cx="3256178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Upload the files you have; the engine matches identifiers, screens for PII and leakage, tunes nine model families on GPUs and selects a champion under model-risk discipline.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Output is a calibrated 0–1000 Nu Score with A+…E bands, reason codes and reports — and the model scores new applications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1600200"/>
            <a:ext cx="3576218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6836" y="1709928"/>
            <a:ext cx="45720" cy="3346704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1428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1428" y="2039112"/>
            <a:ext cx="3301898" cy="3063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716" y="2057400"/>
            <a:ext cx="3256178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Live today on internal infrastructure; a 6,000-row book trains 10 models in 72 seconds.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Data never leaves the host and is deleted once results are delivered; no PII required.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1B9AB8"/>
                </a:solidFill>
                <a:latin typeface="Calibri"/>
              </a:rPr>
              <a:t>▪  </a:t>
            </a:r>
            <a:r>
              <a:rPr sz="1200" b="0">
                <a:solidFill>
                  <a:srgbClr val="44546B"/>
                </a:solidFill>
                <a:latin typeface="Calibri"/>
              </a:rPr>
              <a:t>Free during introduction, then ₹10 per case scored — compute included.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2127443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94960"/>
            <a:ext cx="2127443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C31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06440"/>
            <a:ext cx="212744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A879A"/>
                </a:solidFill>
                <a:latin typeface="Calibri"/>
              </a:rPr>
              <a:t>model families incl. FT-Transformer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67523" y="5349240"/>
            <a:ext cx="2127443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7523" y="5394960"/>
            <a:ext cx="2127443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C31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7523" y="5806440"/>
            <a:ext cx="212744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A879A"/>
                </a:solidFill>
                <a:latin typeface="Calibri"/>
              </a:rPr>
              <a:t>validation cohorts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6406" y="5349240"/>
            <a:ext cx="2127443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6406" y="5394960"/>
            <a:ext cx="2127443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C31"/>
                </a:solidFill>
                <a:latin typeface="Calibri"/>
              </a:rPr>
              <a:t>0–1000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6406" y="5806440"/>
            <a:ext cx="212744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A879A"/>
                </a:solidFill>
                <a:latin typeface="Calibri"/>
              </a:rPr>
              <a:t>Nu Score, 6 bands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5289" y="5349240"/>
            <a:ext cx="2127443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289" y="5394960"/>
            <a:ext cx="2127443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C31"/>
                </a:solidFill>
                <a:latin typeface="Calibri"/>
              </a:rPr>
              <a:t>20 GB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289" y="5806440"/>
            <a:ext cx="212744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A879A"/>
                </a:solidFill>
                <a:latin typeface="Calibri"/>
              </a:rPr>
              <a:t>per file, resumable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24172" y="5349240"/>
            <a:ext cx="2127443" cy="8686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24172" y="5394960"/>
            <a:ext cx="2127443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D1C31"/>
                </a:solidFill>
                <a:latin typeface="Calibri"/>
              </a:rPr>
              <a:t>₹10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4172" y="5806440"/>
            <a:ext cx="2127443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7A879A"/>
                </a:solidFill>
                <a:latin typeface="Calibri"/>
              </a:rPr>
              <a:t>per case after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Today a usable credit model is a six-week project; the product collapses it to one sitting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The problem we solve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Conventional build</a:t>
            </a:r>
          </a:p>
        </p:txBody>
      </p:sp>
      <p:sp>
        <p:nvSpPr>
          <p:cNvPr id="11" name="Chevron 10"/>
          <p:cNvSpPr/>
          <p:nvPr/>
        </p:nvSpPr>
        <p:spPr>
          <a:xfrm>
            <a:off x="548640" y="2286000"/>
            <a:ext cx="2145731" cy="502920"/>
          </a:xfrm>
          <a:prstGeom prst="chevron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Week 1–2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Collect &amp; join loan, bureau, bank files by hand</a:t>
            </a:r>
          </a:p>
        </p:txBody>
      </p:sp>
      <p:sp>
        <p:nvSpPr>
          <p:cNvPr id="14" name="Chevron 13"/>
          <p:cNvSpPr/>
          <p:nvPr/>
        </p:nvSpPr>
        <p:spPr>
          <a:xfrm>
            <a:off x="2767523" y="2286000"/>
            <a:ext cx="2145731" cy="502920"/>
          </a:xfrm>
          <a:prstGeom prst="chevron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6123" y="2331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Week 2–3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3243" y="2880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Clean formats, chase missing identifiers</a:t>
            </a:r>
          </a:p>
        </p:txBody>
      </p:sp>
      <p:sp>
        <p:nvSpPr>
          <p:cNvPr id="17" name="Chevron 16"/>
          <p:cNvSpPr/>
          <p:nvPr/>
        </p:nvSpPr>
        <p:spPr>
          <a:xfrm>
            <a:off x="4986406" y="2286000"/>
            <a:ext cx="2145731" cy="502920"/>
          </a:xfrm>
          <a:prstGeom prst="chevron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5006" y="2331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Week 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2126" y="2880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Try 2–3 algorithms in notebooks</a:t>
            </a:r>
          </a:p>
        </p:txBody>
      </p:sp>
      <p:sp>
        <p:nvSpPr>
          <p:cNvPr id="20" name="Chevron 19"/>
          <p:cNvSpPr/>
          <p:nvPr/>
        </p:nvSpPr>
        <p:spPr>
          <a:xfrm>
            <a:off x="7205289" y="2286000"/>
            <a:ext cx="2145731" cy="502920"/>
          </a:xfrm>
          <a:prstGeom prst="chevron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3889" y="2331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Week 4–5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1009" y="2880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Validate, argue about leakage &amp; splits</a:t>
            </a:r>
          </a:p>
        </p:txBody>
      </p:sp>
      <p:sp>
        <p:nvSpPr>
          <p:cNvPr id="23" name="Chevron 22"/>
          <p:cNvSpPr/>
          <p:nvPr/>
        </p:nvSpPr>
        <p:spPr>
          <a:xfrm>
            <a:off x="9424172" y="2286000"/>
            <a:ext cx="2145731" cy="502920"/>
          </a:xfrm>
          <a:prstGeom prst="chevron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2772" y="2331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Week 5–6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9892" y="2880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Package for underwriting; write the committee pack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Nu Score On the Go</a:t>
            </a:r>
          </a:p>
        </p:txBody>
      </p:sp>
      <p:sp>
        <p:nvSpPr>
          <p:cNvPr id="27" name="Chevron 26"/>
          <p:cNvSpPr/>
          <p:nvPr/>
        </p:nvSpPr>
        <p:spPr>
          <a:xfrm>
            <a:off x="548640" y="4572000"/>
            <a:ext cx="2145731" cy="50292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617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Minute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166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Drop files; identifiers matched</a:t>
            </a:r>
          </a:p>
        </p:txBody>
      </p:sp>
      <p:sp>
        <p:nvSpPr>
          <p:cNvPr id="30" name="Chevron 29"/>
          <p:cNvSpPr/>
          <p:nvPr/>
        </p:nvSpPr>
        <p:spPr>
          <a:xfrm>
            <a:off x="2767523" y="4572000"/>
            <a:ext cx="2145731" cy="50292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6123" y="4617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Minute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13243" y="5166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PII / leakage screened; outcome confirmed</a:t>
            </a:r>
          </a:p>
        </p:txBody>
      </p:sp>
      <p:sp>
        <p:nvSpPr>
          <p:cNvPr id="33" name="Chevron 32"/>
          <p:cNvSpPr/>
          <p:nvPr/>
        </p:nvSpPr>
        <p:spPr>
          <a:xfrm>
            <a:off x="4986406" y="4572000"/>
            <a:ext cx="2145731" cy="50292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5006" y="4617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Minute 3–6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32126" y="5166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9 families tuned on GPU; champion picked</a:t>
            </a:r>
          </a:p>
        </p:txBody>
      </p:sp>
      <p:sp>
        <p:nvSpPr>
          <p:cNvPr id="36" name="Chevron 35"/>
          <p:cNvSpPr/>
          <p:nvPr/>
        </p:nvSpPr>
        <p:spPr>
          <a:xfrm>
            <a:off x="7205289" y="4572000"/>
            <a:ext cx="2145731" cy="50292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33889" y="4617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Minute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51009" y="5166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Nu Score bands, SHAP, warnings, report</a:t>
            </a:r>
          </a:p>
        </p:txBody>
      </p:sp>
      <p:sp>
        <p:nvSpPr>
          <p:cNvPr id="39" name="Chevron 38"/>
          <p:cNvSpPr/>
          <p:nvPr/>
        </p:nvSpPr>
        <p:spPr>
          <a:xfrm>
            <a:off x="9424172" y="4572000"/>
            <a:ext cx="2145731" cy="50292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52772" y="4617720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Minute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9892" y="5166360"/>
            <a:ext cx="2036003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Score the next application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7A879A"/>
                </a:solidFill>
                <a:latin typeface="Calibri"/>
              </a:rPr>
              <a:t>Quick tier on a 20,000-row book: about 3 minutes end to end on the current host (2 × Tesla T4 for training).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One guided flow from raw files to a scored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Product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493476" cy="73152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Upload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CSV, bureau JSON, Parquet; up to 20 GB; resumable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3556" y="1737360"/>
            <a:ext cx="1493476" cy="73152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33556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556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Match identifiers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3556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Roles proposed by a local LLM; keys verified by value overlap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8472" y="1737360"/>
            <a:ext cx="1493476" cy="73152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8472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8472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Analyse &amp;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8472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PII, leakage, IDs flagged; IV and WOE bins; clean-up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389" y="1737360"/>
            <a:ext cx="1493476" cy="73152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389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389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Train model zoo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389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Nine families tuned with Optuna on GPUs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8305" y="1737360"/>
            <a:ext cx="1493476" cy="73152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8305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8305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Pick champion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8305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Composite on selection-safe cohorts; stacked blend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3222" y="1737360"/>
            <a:ext cx="1493476" cy="73152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3222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3222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Nu Score bands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3222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Calibrated 0–1000 score; bands learned from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138" y="1737360"/>
            <a:ext cx="1493476" cy="73152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138" y="1874519"/>
            <a:ext cx="15849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138" y="2194560"/>
            <a:ext cx="144775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Score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138" y="2788920"/>
            <a:ext cx="1402036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Form or batch file; reason codes; drift check</a:t>
            </a:r>
          </a:p>
        </p:txBody>
      </p:sp>
      <p:pic>
        <p:nvPicPr>
          <p:cNvPr id="38" name="Picture 37" descr="landin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202" y="3749039"/>
            <a:ext cx="6489290" cy="2514600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Bring what you have: a loan dump plus any bureau and bank-statement variables, joined by one identifier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57621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5720" cy="2843784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REQUIRED · Loan dump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330189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25617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loan_id / account_no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Outcome to predict: default flag, DPD bucket, write-off, closure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Product, amount, tenure, rate, EMI, LTV, disbursal date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Repayment history: DPD, overdue, months on book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Applicant profile without PII: age band, income, occupation, pincode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1600200"/>
            <a:ext cx="357621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7738" y="1709928"/>
            <a:ext cx="45720" cy="284378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RECOMMENDED ·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330" y="2039112"/>
            <a:ext cx="330189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011680"/>
            <a:ext cx="325617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Bureau score, enquiries (3/6/12 m)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Live &amp; closed trade lines, exposure, utilisation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Worst DPD, write-offs, settlements, vintage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Flat CSV or the raw bureau JSON (nested trade lines flattened)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1600200"/>
            <a:ext cx="3576218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6836" y="1709928"/>
            <a:ext cx="45720" cy="284378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1428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RECOMMENDED · Bank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1428" y="2039112"/>
            <a:ext cx="330189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716" y="2011680"/>
            <a:ext cx="3256178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Average / minimum / month-end balances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Credit &amp; debit counts and amounts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Salary regularity, cheque or EMI bounces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Cash withdrawals, existing EMI outflow; monthly rows are fine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11094415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Identifier  </a:t>
            </a:r>
            <a:r>
              <a:rPr sz="1100" b="0">
                <a:solidFill>
                  <a:srgbClr val="44546B"/>
                </a:solidFill>
                <a:latin typeface="Calibri"/>
              </a:rPr>
              <a:t>one common key across files; names may differ (loan_id, ref_no, account_number) — the engine finds the match and shows the match rate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Outcome  </a:t>
            </a:r>
            <a:r>
              <a:rPr sz="1100" b="0">
                <a:solidFill>
                  <a:srgbClr val="44546B"/>
                </a:solidFill>
                <a:latin typeface="Calibri"/>
              </a:rPr>
              <a:t>0/1, yes/no, a class label, or a number to threshold (e.g. DPD &gt; 90); you confirm the positive class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Time column  </a:t>
            </a:r>
            <a:r>
              <a:rPr sz="1100" b="0">
                <a:solidFill>
                  <a:srgbClr val="44546B"/>
                </a:solidFill>
                <a:latin typeface="Calibri"/>
              </a:rPr>
              <a:t>disbursal or snapshot date unlocks true out-of-time validation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Keep out  </a:t>
            </a:r>
            <a:r>
              <a:rPr sz="1100" b="0">
                <a:solidFill>
                  <a:srgbClr val="44546B"/>
                </a:solidFill>
                <a:latin typeface="Calibri"/>
              </a:rPr>
              <a:t>names, mobile, email, address, PAN, Aadhaar, DOB — flagged and dropped if present; not needed for the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Identifiers are matched by measured overlap and every column is screened before a model sees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Data intake and screening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603504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D1C31"/>
                </a:solidFill>
                <a:latin typeface="Calibri"/>
              </a:rPr>
              <a:t>Matching  </a:t>
            </a:r>
            <a:r>
              <a:rPr sz="1150" b="0">
                <a:solidFill>
                  <a:srgbClr val="44546B"/>
                </a:solidFill>
                <a:latin typeface="Calibri"/>
              </a:rPr>
              <a:t>a local language model proposes file roles (loan dump / bureau / bank statement); join keys are chosen by actual value overlap between candidate columns and shown with match rate and rows per case</a:t>
            </a: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0D1C31"/>
                </a:solidFill>
                <a:latin typeface="Calibri"/>
              </a:rPr>
              <a:t>Bureau JSON  </a:t>
            </a:r>
            <a:r>
              <a:rPr sz="1150" b="0">
                <a:solidFill>
                  <a:srgbClr val="44546B"/>
                </a:solidFill>
                <a:latin typeface="Calibri"/>
              </a:rPr>
              <a:t>nested objects become columns; trade-line lists become count / sum / max / min per field</a:t>
            </a: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0D1C31"/>
                </a:solidFill>
                <a:latin typeface="Calibri"/>
              </a:rPr>
              <a:t>Screening  </a:t>
            </a:r>
            <a:r>
              <a:rPr sz="1150" b="0">
                <a:solidFill>
                  <a:srgbClr val="44546B"/>
                </a:solidFill>
                <a:latin typeface="Calibri"/>
              </a:rPr>
              <a:t>PII by name and value pattern (emails, mobiles, PAN, Aadhaar); leakage by name and implausible IV; identifiers by uniqueness — all excluded by default, overridable</a:t>
            </a: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0D1C31"/>
                </a:solidFill>
                <a:latin typeface="Calibri"/>
              </a:rPr>
              <a:t>Clean-up  </a:t>
            </a:r>
            <a:r>
              <a:rPr sz="1150" b="0">
                <a:solidFill>
                  <a:srgbClr val="44546B"/>
                </a:solidFill>
                <a:latin typeface="Calibri"/>
              </a:rPr>
              <a:t>₹ / $ symbols, % signs, 1,23,456 lakh and 1,234,567 grouping, yes/no, NA markers — normalised deterministically and logged for review</a:t>
            </a:r>
          </a:p>
          <a:p>
            <a:pPr algn="l">
              <a:lnSpc>
                <a:spcPct val="115000"/>
              </a:lnSpc>
            </a:pPr>
            <a:r>
              <a:rPr sz="1150" b="1">
                <a:solidFill>
                  <a:srgbClr val="0D1C31"/>
                </a:solidFill>
                <a:latin typeface="Calibri"/>
              </a:rPr>
              <a:t>Profiling  </a:t>
            </a:r>
            <a:r>
              <a:rPr sz="1150" b="0">
                <a:solidFill>
                  <a:srgbClr val="44546B"/>
                </a:solidFill>
                <a:latin typeface="Calibri"/>
              </a:rPr>
              <a:t>DuckDB summarises millions of rows in seconds: types, nulls, distinct counts, date detection, IV with WOE bins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691640"/>
          <a:ext cx="47850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018"/>
                <a:gridCol w="1595018"/>
                <a:gridCol w="1595019"/>
              </a:tblGrid>
              <a:tr h="3962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PII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name pattern or value pattern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dropped before training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post-outcome name, IV &gt;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excluded by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Identifier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&gt; 95 % unique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kept as key, not a feature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Constant /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one value or all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listed in diagnostics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Correlated pairs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|r| ≥ 0.8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listed; importances shared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4297680"/>
            <a:ext cx="4785055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Example from a live run: 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loan_id = ref_no  ·  92 % of cases matched  ·  1 row per case (bureau)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loan_id = account_number  ·  85 % matched  ·  6 rows per case (bank statement, latest kept)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44546B"/>
                </a:solidFill>
                <a:latin typeface="Calibri"/>
              </a:rPr>
              <a:t>customer_name → PII · mobile → PII · writeoff_amount → leakage (IV 13.9)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Nine model families are tuned automatically; a stacked blend adds the AI-enhanced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The modelling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62763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Interpretable baseline every scorecard starts from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76272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57984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Random Forest / Extra 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57984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Bagged trees; robust to outliers and monotone transforms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06624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88336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Histogram Gradient 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688336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scikit-learn boosting with native missing handling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36976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18688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XGBoost (GPU) / LightGBM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18688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Regularised gradient boosting; fast on wide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67328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49040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CatBoost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490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Ordered boosting; strong on small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7939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MLP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793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Neural network on standardised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28031"/>
            <a:ext cx="73152" cy="41148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09743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FT-Transformer (PyTorch)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09743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Attention across tabular features; trained on the T4s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58383"/>
            <a:ext cx="73152" cy="41148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40095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D1C31"/>
                </a:solidFill>
                <a:latin typeface="Calibri"/>
              </a:rPr>
              <a:t>NuScore Blend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40095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Logistic meta-learner on out-of-fold predictions of the top four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645920"/>
            <a:ext cx="43278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1755648"/>
            <a:ext cx="45720" cy="188366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1719072"/>
            <a:ext cx="405353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2084832"/>
            <a:ext cx="4053535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2057400"/>
            <a:ext cx="4007815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Optuna TPE search with median pruning and early stopping per family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Quick 4 trials / 2 folds  ·  Balanced 25 / 3  ·  Thorough 60 / 3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Tuning on ≤ 200 k rows; final fit on ≤ 1 M rows; evaluation on all rows loaded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3931920"/>
            <a:ext cx="432785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0" y="4041648"/>
            <a:ext cx="45720" cy="1883664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9792" y="4005072"/>
            <a:ext cx="405353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Preprocessing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4370832"/>
            <a:ext cx="4053535" cy="1600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4343400"/>
            <a:ext cx="4007815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Median imputation with missing-value indicators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One-hot for low-cardinality categoricals; out-of-fold target encoding for pincode-like columns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Dates → month and days-to-reference; free text dropped; schema saved for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Five cohorts keep selection honest: test and out-of-time never influence which model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Validation discipline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HOW IT 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6065352" cy="1051560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60653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84248"/>
            <a:ext cx="60653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6065352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fitting &amp; tuning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0568" y="1691640"/>
            <a:ext cx="1294753" cy="1051560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0568" y="1737360"/>
            <a:ext cx="1294753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0568" y="1984248"/>
            <a:ext cx="1294753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0D1C31"/>
                </a:solidFill>
                <a:latin typeface="Calibri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0568" y="2240280"/>
            <a:ext cx="1294753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0D1C31"/>
                </a:solidFill>
                <a:latin typeface="Calibri"/>
              </a:rPr>
              <a:t>selection, thresholds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81897" y="1691640"/>
            <a:ext cx="1072865" cy="1051560"/>
          </a:xfrm>
          <a:prstGeom prst="rect">
            <a:avLst/>
          </a:prstGeom>
          <a:solidFill>
            <a:srgbClr val="8FA3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1897" y="1737360"/>
            <a:ext cx="107286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1897" y="1984248"/>
            <a:ext cx="107286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0D1C31"/>
                </a:solidFill>
                <a:latin typeface="Calibri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1897" y="2240280"/>
            <a:ext cx="107286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0D1C31"/>
                </a:solidFill>
                <a:latin typeface="Calibri"/>
              </a:rPr>
              <a:t>Platt scaling, band cut-offs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1338" y="1691640"/>
            <a:ext cx="1072865" cy="105156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1338" y="1737360"/>
            <a:ext cx="107286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1338" y="1984248"/>
            <a:ext cx="107286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1338" y="2240280"/>
            <a:ext cx="1072865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untouched estimate + bootstrap CI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00779" y="1691640"/>
            <a:ext cx="1405697" cy="105156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00779" y="1737360"/>
            <a:ext cx="1405697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Out-of-time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0779" y="1984248"/>
            <a:ext cx="1405697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Calibri"/>
              </a:rPr>
              <a:t>13%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00779" y="2240280"/>
            <a:ext cx="1405697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latest dates; rows sharing a date never split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34640"/>
            <a:ext cx="8542699" cy="5486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898648"/>
            <a:ext cx="8542699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B9AB8"/>
                </a:solidFill>
                <a:latin typeface="Calibri"/>
              </a:rPr>
              <a:t>used for selection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1339" y="2834640"/>
            <a:ext cx="2551715" cy="54864"/>
          </a:xfrm>
          <a:prstGeom prst="rect">
            <a:avLst/>
          </a:prstGeom>
          <a:solidFill>
            <a:srgbClr val="C8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1339" y="2898648"/>
            <a:ext cx="25517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C8453B"/>
                </a:solidFill>
                <a:latin typeface="Calibri"/>
              </a:rPr>
              <a:t>never used for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1094415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D1C31"/>
                </a:solidFill>
                <a:latin typeface="Calibri"/>
              </a:rPr>
              <a:t>Champion composite  </a:t>
            </a:r>
            <a:r>
              <a:rPr sz="1250" b="0">
                <a:solidFill>
                  <a:srgbClr val="44546B"/>
                </a:solidFill>
                <a:latin typeface="Calibri"/>
              </a:rPr>
              <a:t>validation AUC 45 % · validation Brier 20 % · validation→calibration consistency 15 % · overfit gap 10 % · simplicity 10 %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0D1C31"/>
                </a:solidFill>
                <a:latin typeface="Calibri"/>
              </a:rPr>
              <a:t>Chronological  </a:t>
            </a:r>
            <a:r>
              <a:rPr sz="1250" b="0">
                <a:solidFill>
                  <a:srgbClr val="44546B"/>
                </a:solidFill>
                <a:latin typeface="Calibri"/>
              </a:rPr>
              <a:t>when a time column exists, cohorts follow observation dates and the OOT cohort is the latest period; otherwise it is a random hold-out and the UI says so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0D1C31"/>
                </a:solidFill>
                <a:latin typeface="Calibri"/>
              </a:rPr>
              <a:t>Calibration  </a:t>
            </a:r>
            <a:r>
              <a:rPr sz="1250" b="0">
                <a:solidFill>
                  <a:srgbClr val="44546B"/>
                </a:solidFill>
                <a:latin typeface="Calibri"/>
              </a:rPr>
              <a:t>Platt scaling fitted on the calibration cohort — smooth, monotone, never saturating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0D1C31"/>
                </a:solidFill>
                <a:latin typeface="Calibri"/>
              </a:rPr>
              <a:t>Warnings engine  </a:t>
            </a:r>
            <a:r>
              <a:rPr sz="1250" b="0">
                <a:solidFill>
                  <a:srgbClr val="44546B"/>
                </a:solidFill>
                <a:latin typeface="Calibri"/>
              </a:rPr>
              <a:t>weak AUC, overfit gap &gt; 0.10, validation→OOT drop, calibration worsening Brier, duplicate rows, correlated pairs, small cohorts</a:t>
            </a:r>
          </a:p>
          <a:p>
            <a:pPr algn="l">
              <a:lnSpc>
                <a:spcPct val="130000"/>
              </a:lnSpc>
            </a:pPr>
            <a:r>
              <a:rPr sz="1250" b="1">
                <a:solidFill>
                  <a:srgbClr val="0D1C31"/>
                </a:solidFill>
                <a:latin typeface="Calibri"/>
              </a:rPr>
              <a:t>Unit tests  </a:t>
            </a:r>
            <a:r>
              <a:rPr sz="1250" b="0">
                <a:solidFill>
                  <a:srgbClr val="44546B"/>
                </a:solidFill>
                <a:latin typeface="Calibri"/>
              </a:rPr>
              <a:t>prove that flipping test / OOT labels cannot change the champion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Live run: LogisticRegression won on selection cohorts and held up on the untouched test and OOT cohorts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Results from a training run  ·  6,000 rows  ·  10 models  ·  tier: quick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RESULTS</a:t>
            </a:r>
          </a:p>
        </p:txBody>
      </p:sp>
      <p:pic>
        <p:nvPicPr>
          <p:cNvPr id="10" name="Picture 9" descr="champ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2378774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0" y="1463040"/>
          <a:ext cx="4327855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160520"/>
            <a:ext cx="658368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Composite breakdown </a:t>
            </a:r>
            <a:r>
              <a:rPr sz="1100" b="0">
                <a:solidFill>
                  <a:srgbClr val="44546B"/>
                </a:solidFill>
                <a:latin typeface="Calibri"/>
              </a:rPr>
              <a:t>shows why the champion won; the leaderboard ranks every model on the same composite and reports validation, test and OOT AUC side by side so a reviewer can see stability at a glance.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Bootstrap 95 % interval </a:t>
            </a:r>
            <a:r>
              <a:rPr sz="1100" b="0">
                <a:solidFill>
                  <a:srgbClr val="44546B"/>
                </a:solidFill>
                <a:latin typeface="Calibri"/>
              </a:rPr>
              <a:t>on the test AUC quantifies sampling uncertainty; the OOT tile states whether it is a true out-of-time cohort.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The Nu Score is a calibrated 0–1000 scale with bands learned from the data, not fixed cut-offs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Nu Score (AI-enhanced)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12064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Scale  </a:t>
            </a:r>
            <a:r>
              <a:rPr sz="1100" b="0">
                <a:solidFill>
                  <a:srgbClr val="44546B"/>
                </a:solidFill>
                <a:latin typeface="Calibri"/>
              </a:rPr>
              <a:t>0–1000, higher = safer; 500 = even odds; +60 points halves the odds of going bad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Calibrated  </a:t>
            </a:r>
            <a:r>
              <a:rPr sz="1100" b="0">
                <a:solidFill>
                  <a:srgbClr val="44546B"/>
                </a:solidFill>
                <a:latin typeface="Calibri"/>
              </a:rPr>
              <a:t>Platt scaling on the calibration cohort, so the score tracks observed bad rates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AI-enhanced  </a:t>
            </a:r>
            <a:r>
              <a:rPr sz="1100" b="0">
                <a:solidFill>
                  <a:srgbClr val="44546B"/>
                </a:solidFill>
                <a:latin typeface="Calibri"/>
              </a:rPr>
              <a:t>probability from the stacked blend; base score and AI adjustment shown separately for governance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Bands  </a:t>
            </a:r>
            <a:r>
              <a:rPr sz="1100" b="0">
                <a:solidFill>
                  <a:srgbClr val="44546B"/>
                </a:solidFill>
                <a:latin typeface="Calibri"/>
              </a:rPr>
              <a:t>A+ … E cut-offs learned on the calibration cohort: quantile seeds merged until bad rate rises monotonically and each band holds ≥ 5 %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Cut-off simulator  </a:t>
            </a:r>
            <a:r>
              <a:rPr sz="1100" b="0">
                <a:solidFill>
                  <a:srgbClr val="44546B"/>
                </a:solidFill>
                <a:latin typeface="Calibri"/>
              </a:rPr>
              <a:t>approval rate vs bad rate among approved vs bads rejected, on the test cohort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069080"/>
          <a:ext cx="5120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128"/>
                <a:gridCol w="1024128"/>
                <a:gridCol w="1024128"/>
                <a:gridCol w="1024128"/>
                <a:gridCol w="1024128"/>
              </a:tblGrid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 range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Bad rate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0D1C31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1F9D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770–1000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0.09×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C31"/>
                          </a:solidFill>
                          <a:latin typeface="Calibri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4FC6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703–769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0.31×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C31"/>
                          </a:solidFill>
                          <a:latin typeface="Calibri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8FA3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647–702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0.86×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1C31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E9B9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601–646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1.21×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E07B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545–600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1.31×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C845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0–544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47.6%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44546B"/>
                          </a:solidFill>
                          <a:latin typeface="Calibri"/>
                        </a:defRPr>
                      </a:pPr>
                      <a:r>
                        <a:t>2.67×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" name="Picture 11" descr="nu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446" y="1554480"/>
            <a:ext cx="4815763" cy="4663440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Every score is explainable and every run carries its own validation notes, diagnostics and drift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Explainability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RESULTS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357621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5720" cy="215798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3301898" cy="1874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256178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SHAP drivers, beeswarm and dependence plots for the champion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Per-record reason codes (adverse-action style) with a plain-English glossary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Permutation importance where a model has no native importances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AI-written narrative from aggregate metrics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7738" y="1600200"/>
            <a:ext cx="357621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7738" y="1709928"/>
            <a:ext cx="45720" cy="2157984"/>
          </a:xfrm>
          <a:prstGeom prst="rect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2330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2330" y="2039112"/>
            <a:ext cx="3301898" cy="1874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011680"/>
            <a:ext cx="3256178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Amber validation notes generated from the data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Bootstrap AUC interval, duplicate-row and correlation checks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WOE bin tables per variable; IV strength flags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Calibration reliability before vs after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6836" y="1600200"/>
            <a:ext cx="357621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6836" y="1709928"/>
            <a:ext cx="45720" cy="2157984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1428" y="1673352"/>
            <a:ext cx="33018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0D1C31"/>
                </a:solidFill>
                <a:latin typeface="Calibri"/>
              </a:rP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1428" y="2039112"/>
            <a:ext cx="3301898" cy="1874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716" y="2011680"/>
            <a:ext cx="3256178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PSI drift of score and every feature per cohort vs training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Drift check on every batch scored later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Rows without an outcome scored separately, never in a cohort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1B9AB8"/>
                </a:solidFill>
                <a:latin typeface="Calibri"/>
              </a:rPr>
              <a:t>▪  </a:t>
            </a:r>
            <a:r>
              <a:rPr sz="1050" b="0">
                <a:solidFill>
                  <a:srgbClr val="44546B"/>
                </a:solidFill>
                <a:latin typeface="Calibri"/>
              </a:rPr>
              <a:t>HTML / PDF committee report; scored CSV downloads</a:t>
            </a:r>
          </a:p>
        </p:txBody>
      </p:sp>
      <p:pic>
        <p:nvPicPr>
          <p:cNvPr id="25" name="Picture 24" descr="sha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0520"/>
            <a:ext cx="3576218" cy="1566227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  <p:pic>
        <p:nvPicPr>
          <p:cNvPr id="26" name="Picture 25" descr="warn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38" y="4160520"/>
            <a:ext cx="3576218" cy="833145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  <p:pic>
        <p:nvPicPr>
          <p:cNvPr id="27" name="Picture 26" descr="dri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5349" y="4160520"/>
            <a:ext cx="1199191" cy="1965960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The trained model scores the next application from a form or a batch file, with columns harmonised automatically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Scoring new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4937760" cy="4480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Single application  </a:t>
            </a:r>
            <a:r>
              <a:rPr sz="1100" b="0">
                <a:solidFill>
                  <a:srgbClr val="44546B"/>
                </a:solidFill>
                <a:latin typeface="Calibri"/>
              </a:rPr>
              <a:t>form generated from the model's input schema; gauge, band, probability, base vs AI-adjusted score, reason codes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Batch file  </a:t>
            </a:r>
            <a:r>
              <a:rPr sz="1100" b="0">
                <a:solidFill>
                  <a:srgbClr val="44546B"/>
                </a:solidFill>
                <a:latin typeface="Calibri"/>
              </a:rPr>
              <a:t>drop a CSV; exact → normalised → LLM column mapping shown with a method badge per column; values normalised (1,20,000 · 2.5 lakh · yes/no)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Drift  </a:t>
            </a:r>
            <a:r>
              <a:rPr sz="1100" b="0">
                <a:solidFill>
                  <a:srgbClr val="44546B"/>
                </a:solidFill>
                <a:latin typeface="Calibri"/>
              </a:rPr>
              <a:t>score PSI and top drifting inputs versus the training population on every batch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Output  </a:t>
            </a:r>
            <a:r>
              <a:rPr sz="1100" b="0">
                <a:solidFill>
                  <a:srgbClr val="44546B"/>
                </a:solidFill>
                <a:latin typeface="Calibri"/>
              </a:rPr>
              <a:t>scored CSV with nu_score, nu_band, probability, base_score and reasons 1–4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Where the model lives  </a:t>
            </a:r>
            <a:r>
              <a:rPr sz="1100" b="0">
                <a:solidFill>
                  <a:srgbClr val="44546B"/>
                </a:solidFill>
                <a:latin typeface="Calibri"/>
              </a:rPr>
              <a:t>a persisted bundle per training job (preprocessing, champion, blend, calibrator, bands, SHAP background, drift profiles); the training data itself is deleted</a:t>
            </a:r>
          </a:p>
        </p:txBody>
      </p:sp>
      <p:pic>
        <p:nvPicPr>
          <p:cNvPr id="11" name="Picture 10" descr="scoring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54480"/>
            <a:ext cx="5882335" cy="2358133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  <p:pic>
        <p:nvPicPr>
          <p:cNvPr id="12" name="Picture 11" descr="scoring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57" y="4069080"/>
            <a:ext cx="3413260" cy="2103120"/>
          </a:xfrm>
          <a:prstGeom prst="rect">
            <a:avLst/>
          </a:prstGeom>
          <a:ln w="9525">
            <a:solidFill>
              <a:srgbClr val="E3E8EF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Privacy by construction: nothing is stored, no PII is needed, and every model runs on Northern Arc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Privacy, security and commercials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45576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5720" cy="2843784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51814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Privacy and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518144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513572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Uploaded files are deleted the moment the training job succeeds; abandoned sessions expire in 24 h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No PII required; PII-looking columns are detected by name and value pattern and dropped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Only aggregate metrics and the model bundle remain; WOE tables anonymise category labels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Local language models only (Ollama on-prem); they see column names and summary statistics, never rows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Internal network only at the reverse proxy; hardened systemd service (memory and CPU fences, no new privileges, private tmp)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GPUs and caches on the 3 TB data volume; nothing leaves the host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1600200"/>
            <a:ext cx="545576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7287" y="1709928"/>
            <a:ext cx="45720" cy="284378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1673352"/>
            <a:ext cx="518144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Commercials and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039112"/>
            <a:ext cx="518144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57400"/>
            <a:ext cx="513572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Free during the introductory period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Thereafter ₹10 per case scored — compute on Northern Arc servers included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Model building, validation, reports and Nu Score bands included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Positioned as 'democratising ML modelling': loan default, collections priority, churn, sales forecasting, inventory demand, fraud flags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Internal adoption first; partner NBFCs and originators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Data lifecycle</a:t>
            </a:r>
          </a:p>
        </p:txBody>
      </p:sp>
      <p:sp>
        <p:nvSpPr>
          <p:cNvPr id="21" name="Chevron 20"/>
          <p:cNvSpPr/>
          <p:nvPr/>
        </p:nvSpPr>
        <p:spPr>
          <a:xfrm>
            <a:off x="548640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chunked, resumable, internal network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7523" y="5212080"/>
            <a:ext cx="2145731" cy="457200"/>
          </a:xfrm>
          <a:prstGeom prst="chevron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6123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Convert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3243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Parquet on the data volume</a:t>
            </a:r>
          </a:p>
        </p:txBody>
      </p:sp>
      <p:sp>
        <p:nvSpPr>
          <p:cNvPr id="27" name="Chevron 26"/>
          <p:cNvSpPr/>
          <p:nvPr/>
        </p:nvSpPr>
        <p:spPr>
          <a:xfrm>
            <a:off x="4986406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006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2126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GPUs; local LLM sees metadata only</a:t>
            </a:r>
          </a:p>
        </p:txBody>
      </p:sp>
      <p:sp>
        <p:nvSpPr>
          <p:cNvPr id="30" name="Chevron 29"/>
          <p:cNvSpPr/>
          <p:nvPr/>
        </p:nvSpPr>
        <p:spPr>
          <a:xfrm>
            <a:off x="7205289" y="5212080"/>
            <a:ext cx="2145731" cy="457200"/>
          </a:xfrm>
          <a:prstGeom prst="chevron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3889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009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session data removed on success</a:t>
            </a:r>
          </a:p>
        </p:txBody>
      </p:sp>
      <p:sp>
        <p:nvSpPr>
          <p:cNvPr id="33" name="Chevron 32"/>
          <p:cNvSpPr/>
          <p:nvPr/>
        </p:nvSpPr>
        <p:spPr>
          <a:xfrm>
            <a:off x="9424172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772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Keep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9892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aggregate metrics + model bundle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A single hardened service on existing infrastructure: FastAPI, DuckDB, PyTorch and local LLMs behind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Architecture and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3774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237744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74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8600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Single-page app · Plotly · no external CDNs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737360"/>
            <a:ext cx="23774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737360"/>
            <a:ext cx="237744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8745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nginx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8600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/nuscore_claudecode/ · internal CIDRs · 20 GB uploads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1737360"/>
            <a:ext cx="274320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1737360"/>
            <a:ext cx="274320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8745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FastAPI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28600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sessions · jobs · models · reports · uvicorn :8096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737360"/>
            <a:ext cx="2743200" cy="1371600"/>
          </a:xfrm>
          <a:prstGeom prst="rect">
            <a:avLst/>
          </a:prstGeom>
          <a:solidFill>
            <a:srgbClr val="E9F8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1737360"/>
            <a:ext cx="274320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18745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Training workers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28600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process pool · 16 threads/job · GPUs 2–3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566160"/>
            <a:ext cx="23774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566160"/>
            <a:ext cx="237744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7033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DuckDB / Polars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11480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streaming CSV→Parquet · profiling · joins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566160"/>
            <a:ext cx="2743200" cy="1371600"/>
          </a:xfrm>
          <a:prstGeom prst="rect">
            <a:avLst/>
          </a:prstGeom>
          <a:solidFill>
            <a:srgbClr val="E9F8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566160"/>
            <a:ext cx="274320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932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11480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scikit-learn · XGBoost · LightGBM · CatBoost · Optuna · PyTorch · SHAP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69680" y="3566160"/>
            <a:ext cx="2743200" cy="1371600"/>
          </a:xfrm>
          <a:prstGeom prst="rect">
            <a:avLst/>
          </a:prstGeom>
          <a:solidFill>
            <a:srgbClr val="E9F8FC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3566160"/>
            <a:ext cx="274320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37033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Ollama (local LLM)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114800"/>
            <a:ext cx="24688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qwen2.5 · GPUs 0–1 · roles, mapping, narrative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66160"/>
            <a:ext cx="2377440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3566160"/>
            <a:ext cx="2377440" cy="64008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7033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Disk (/mnt)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114800"/>
            <a:ext cx="2103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4546B"/>
                </a:solidFill>
                <a:latin typeface="Calibri"/>
              </a:rPr>
              <a:t>sessions (deleted after training) · job results · model bundles · logs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212080"/>
            <a:ext cx="11094415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D1C31"/>
                </a:solidFill>
                <a:latin typeface="Calibri"/>
              </a:rPr>
              <a:t>Host  </a:t>
            </a:r>
            <a:r>
              <a:rPr sz="1050" b="0">
                <a:solidFill>
                  <a:srgbClr val="44546B"/>
                </a:solidFill>
                <a:latin typeface="Calibri"/>
              </a:rPr>
              <a:t>64 cores · 432 GB RAM · 4 × Tesla T4 · 3 TB data volume; two concurrent training jobs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0D1C31"/>
                </a:solidFill>
                <a:latin typeface="Calibri"/>
              </a:rPr>
              <a:t>Operations  </a:t>
            </a:r>
            <a:r>
              <a:rPr sz="1050" b="0">
                <a:solidFill>
                  <a:srgbClr val="44546B"/>
                </a:solidFill>
                <a:latin typeface="Calibri"/>
              </a:rPr>
              <a:t>systemd unit nuscore-otg · smoke and end-to-end tests in deploy/ · engine invariants in tests/ · repository github.com/harshitrathi14/ml-on-the-go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2011680" cy="36576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094415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0D1C31"/>
                </a:solidFill>
                <a:latin typeface="Calibri"/>
              </a:rPr>
              <a:t>Delivered in one sprint; the next steps deepen the science and widen the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7A879A"/>
                </a:solidFill>
                <a:latin typeface="Calibri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7A879A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28016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850" b="1">
                <a:solidFill>
                  <a:srgbClr val="1B9AB8"/>
                </a:solidFill>
                <a:latin typeface="Calibri"/>
              </a:rPr>
              <a:t>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00200"/>
            <a:ext cx="541004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9928"/>
            <a:ext cx="45720" cy="2843784"/>
          </a:xfrm>
          <a:prstGeom prst="rect">
            <a:avLst/>
          </a:prstGeom>
          <a:solidFill>
            <a:srgbClr val="1F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73352"/>
            <a:ext cx="51357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Live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39112"/>
            <a:ext cx="513572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509000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Chunked multi-file uploads, bureau JSON, identifier matching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PII / leakage screening, IV &amp; WOE, clean-up log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Nine-family tuned zoo incl. FT-Transformer; stacked blend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Five-cohort validation, selection-safe champion, warnings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Nu Score bands, SHAP, reason codes, PSI drift, bootstrap CI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Scoring form &amp; batch with column harmonisation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Reports, tests, hardened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1600200"/>
            <a:ext cx="5410047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1709928"/>
            <a:ext cx="45720" cy="2843784"/>
          </a:xfrm>
          <a:prstGeom prst="rect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599" y="1673352"/>
            <a:ext cx="5135727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D1C31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039112"/>
            <a:ext cx="513572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4546B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057400"/>
            <a:ext cx="5090007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Regression and multi-class outcomes (sales, demand, LGD)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Aggregation windows for monthly bank / repayment rows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Grouped validation for repeated borrowers; reject inference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Monotonic constraints and scorecard export (points per bin)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Monitoring dashboard: PSI over time, band migration, back-testing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Sequence models on transaction histories; text embeddings for narrations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1B9AB8"/>
                </a:solidFill>
                <a:latin typeface="Calibri"/>
              </a:rPr>
              <a:t>▪  </a:t>
            </a:r>
            <a:r>
              <a:rPr sz="1100" b="0">
                <a:solidFill>
                  <a:srgbClr val="44546B"/>
                </a:solidFill>
                <a:latin typeface="Calibri"/>
              </a:rPr>
              <a:t>Multi-user workspaces and audit trail when opened to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D1C31"/>
                </a:solidFill>
                <a:latin typeface="Calibri"/>
              </a:rPr>
              <a:t>Phases shipped</a:t>
            </a:r>
          </a:p>
        </p:txBody>
      </p:sp>
      <p:sp>
        <p:nvSpPr>
          <p:cNvPr id="21" name="Chevron 20"/>
          <p:cNvSpPr/>
          <p:nvPr/>
        </p:nvSpPr>
        <p:spPr>
          <a:xfrm>
            <a:off x="548640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0 · Go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brand, jobs, nginx, systemd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7523" y="5212080"/>
            <a:ext cx="2145731" cy="457200"/>
          </a:xfrm>
          <a:prstGeom prst="chevron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6123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1 · Big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3243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chunked uploads, joins, screening</a:t>
            </a:r>
          </a:p>
        </p:txBody>
      </p:sp>
      <p:sp>
        <p:nvSpPr>
          <p:cNvPr id="27" name="Chevron 26"/>
          <p:cNvSpPr/>
          <p:nvPr/>
        </p:nvSpPr>
        <p:spPr>
          <a:xfrm>
            <a:off x="4986406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006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2 ·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32126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tuned zoo, blend, champion</a:t>
            </a:r>
          </a:p>
        </p:txBody>
      </p:sp>
      <p:sp>
        <p:nvSpPr>
          <p:cNvPr id="30" name="Chevron 29"/>
          <p:cNvSpPr/>
          <p:nvPr/>
        </p:nvSpPr>
        <p:spPr>
          <a:xfrm>
            <a:off x="7205289" y="5212080"/>
            <a:ext cx="2145731" cy="457200"/>
          </a:xfrm>
          <a:prstGeom prst="chevron">
            <a:avLst/>
          </a:prstGeom>
          <a:solidFill>
            <a:srgbClr val="1B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33889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3 · Nu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009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calibration, bands, scoring</a:t>
            </a:r>
          </a:p>
        </p:txBody>
      </p:sp>
      <p:sp>
        <p:nvSpPr>
          <p:cNvPr id="33" name="Chevron 32"/>
          <p:cNvSpPr/>
          <p:nvPr/>
        </p:nvSpPr>
        <p:spPr>
          <a:xfrm>
            <a:off x="9424172" y="5212080"/>
            <a:ext cx="2145731" cy="457200"/>
          </a:xfrm>
          <a:prstGeom prst="chevron">
            <a:avLst/>
          </a:prstGeom>
          <a:solidFill>
            <a:srgbClr val="4F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2772" y="5230368"/>
            <a:ext cx="1761683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D1C31"/>
                </a:solidFill>
                <a:latin typeface="Calibri"/>
              </a:rPr>
              <a:t>4 ·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9892" y="5742432"/>
            <a:ext cx="2036003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44546B"/>
                </a:solidFill>
                <a:latin typeface="Calibri"/>
              </a:rPr>
              <a:t>cohorts, drift, diagnostics,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Nu Score On the Go  ·  Northern Arc / AltiFi  · 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C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orthern-arc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74212" cy="502920"/>
          </a:xfrm>
          <a:prstGeom prst="rect">
            <a:avLst/>
          </a:prstGeom>
        </p:spPr>
      </p:pic>
      <p:pic>
        <p:nvPicPr>
          <p:cNvPr id="7" name="Picture 6" descr="altifi_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521208"/>
            <a:ext cx="7038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210312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Build ML models with your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91440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C7D2E0"/>
                </a:solidFill>
                <a:latin typeface="Calibri"/>
              </a:rPr>
              <a:t>Upload a loan book today and score the next application in minutes — validated, explainable, on-prem.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FC6E0"/>
                </a:solidFill>
                <a:latin typeface="Calibri"/>
              </a:rPr>
              <a:t>http://10.91.16.86/nuscore_claudecode/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7D2E0"/>
                </a:solidFill>
                <a:latin typeface="Calibri"/>
              </a:rPr>
              <a:t>Usage guide: docs/NU_SCORE_USAGE_GUIDE.md  ·  Free during introduction, then ₹10 per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